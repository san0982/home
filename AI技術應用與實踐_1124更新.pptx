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68" r:id="rId3"/>
    <p:sldId id="273" r:id="rId4"/>
    <p:sldId id="276" r:id="rId5"/>
    <p:sldId id="27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FBC32-69EA-4C4B-9E7F-461E3166D860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F42FE-D6E9-4CBE-9BBD-68C36CB64F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37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1810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49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45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85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42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51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89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70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2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52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97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76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22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458AD-A416-4BC3-BE40-CE6FF25DE557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7790C-AC2A-4828-B7B3-04CF9A87F4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18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upabase.com/docs/guides/ai/hybrid-search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modelcontextprotocol/servers?tab=readme-ov-file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1;p19">
            <a:extLst>
              <a:ext uri="{FF2B5EF4-FFF2-40B4-BE49-F238E27FC236}">
                <a16:creationId xmlns:a16="http://schemas.microsoft.com/office/drawing/2014/main" id="{D03F2BB2-1731-427C-628D-96227B4B5A1D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手刻 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RAG </a:t>
            </a:r>
            <a:r>
              <a:rPr lang="zh-TW" altLang="en-US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改善方案一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en-US" altLang="zh-TW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Contextual Retrieval</a:t>
            </a:r>
            <a:endParaRPr dirty="0"/>
          </a:p>
        </p:txBody>
      </p:sp>
      <p:sp>
        <p:nvSpPr>
          <p:cNvPr id="5" name="Google Shape;212;p19">
            <a:extLst>
              <a:ext uri="{FF2B5EF4-FFF2-40B4-BE49-F238E27FC236}">
                <a16:creationId xmlns:a16="http://schemas.microsoft.com/office/drawing/2014/main" id="{8951DA2B-A9F4-D5E3-8773-FC7268A7563A}"/>
              </a:ext>
            </a:extLst>
          </p:cNvPr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1;p16">
            <a:extLst>
              <a:ext uri="{FF2B5EF4-FFF2-40B4-BE49-F238E27FC236}">
                <a16:creationId xmlns:a16="http://schemas.microsoft.com/office/drawing/2014/main" id="{2938C178-5866-6D8C-EB36-5DBB0C7830F7}"/>
              </a:ext>
            </a:extLst>
          </p:cNvPr>
          <p:cNvSpPr txBox="1"/>
          <p:nvPr/>
        </p:nvSpPr>
        <p:spPr>
          <a:xfrm>
            <a:off x="865010" y="1104900"/>
            <a:ext cx="4276397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實現工具包</a:t>
            </a:r>
            <a:r>
              <a:rPr lang="en-US" altLang="zh-TW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: LLM + N8N + </a:t>
            </a:r>
            <a:r>
              <a:rPr lang="en-US" altLang="zh-TW" sz="2000" b="1" i="0" u="none" strike="noStrike" cap="none" dirty="0" err="1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Supabase</a:t>
            </a:r>
            <a:endParaRPr lang="zh-TW" altLang="en-US" sz="2000" b="1" i="0" u="none" strike="noStrike" cap="none" dirty="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00" y="1562895"/>
            <a:ext cx="9677400" cy="212407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89" y="3686970"/>
            <a:ext cx="972502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9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1;p19">
            <a:extLst>
              <a:ext uri="{FF2B5EF4-FFF2-40B4-BE49-F238E27FC236}">
                <a16:creationId xmlns:a16="http://schemas.microsoft.com/office/drawing/2014/main" id="{D03F2BB2-1731-427C-628D-96227B4B5A1D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手刻 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RAG </a:t>
            </a:r>
            <a:r>
              <a:rPr lang="zh-TW" altLang="en-US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改善方案二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en-US" altLang="zh-TW" sz="3150" b="1" i="0" u="none" strike="noStrike" cap="none" dirty="0" err="1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混合搜尋</a:t>
            </a:r>
            <a:r>
              <a:rPr lang="en-US" altLang="zh-TW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(Hybrid Search)</a:t>
            </a:r>
            <a:endParaRPr dirty="0"/>
          </a:p>
        </p:txBody>
      </p:sp>
      <p:sp>
        <p:nvSpPr>
          <p:cNvPr id="5" name="Google Shape;212;p19">
            <a:extLst>
              <a:ext uri="{FF2B5EF4-FFF2-40B4-BE49-F238E27FC236}">
                <a16:creationId xmlns:a16="http://schemas.microsoft.com/office/drawing/2014/main" id="{8951DA2B-A9F4-D5E3-8773-FC7268A7563A}"/>
              </a:ext>
            </a:extLst>
          </p:cNvPr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1;p16">
            <a:extLst>
              <a:ext uri="{FF2B5EF4-FFF2-40B4-BE49-F238E27FC236}">
                <a16:creationId xmlns:a16="http://schemas.microsoft.com/office/drawing/2014/main" id="{2938C178-5866-6D8C-EB36-5DBB0C7830F7}"/>
              </a:ext>
            </a:extLst>
          </p:cNvPr>
          <p:cNvSpPr txBox="1"/>
          <p:nvPr/>
        </p:nvSpPr>
        <p:spPr>
          <a:xfrm>
            <a:off x="571499" y="1313512"/>
            <a:ext cx="5088321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實現工具</a:t>
            </a:r>
            <a:r>
              <a:rPr lang="zh-TW" altLang="en-US" sz="200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包</a:t>
            </a:r>
            <a:r>
              <a:rPr lang="en-US" altLang="zh-TW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: LLM + N8N + </a:t>
            </a:r>
            <a:r>
              <a:rPr lang="en-US" altLang="zh-TW" sz="2000" b="1" i="0" u="none" strike="noStrike" cap="none" dirty="0" err="1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Supabase</a:t>
            </a:r>
            <a:endParaRPr lang="zh-TW" altLang="en-US" sz="2000" b="1" i="0" u="none" strike="noStrike" cap="none" dirty="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09" y="2367844"/>
            <a:ext cx="5219700" cy="30480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712" y="1313512"/>
            <a:ext cx="5476875" cy="3362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698" y="3891844"/>
            <a:ext cx="3095625" cy="27908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138662F-D117-9616-275C-43F62FAB43E9}"/>
              </a:ext>
            </a:extLst>
          </p:cNvPr>
          <p:cNvSpPr txBox="1"/>
          <p:nvPr/>
        </p:nvSpPr>
        <p:spPr>
          <a:xfrm>
            <a:off x="8061899" y="0"/>
            <a:ext cx="35173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原文連結</a:t>
            </a:r>
            <a:r>
              <a:rPr lang="en-US" altLang="zh-TW" dirty="0"/>
              <a:t>: </a:t>
            </a:r>
            <a:r>
              <a:rPr lang="en-US" altLang="zh-TW" dirty="0">
                <a:hlinkClick r:id="rId5"/>
              </a:rPr>
              <a:t>Hybrid search | </a:t>
            </a:r>
            <a:r>
              <a:rPr lang="en-US" altLang="zh-TW" dirty="0" err="1">
                <a:hlinkClick r:id="rId5"/>
              </a:rPr>
              <a:t>Supabase</a:t>
            </a:r>
            <a:r>
              <a:rPr lang="en-US" altLang="zh-TW" dirty="0">
                <a:hlinkClick r:id="rId5"/>
              </a:rPr>
              <a:t> Docs</a:t>
            </a:r>
            <a:endParaRPr lang="zh-TW" altLang="en-US" dirty="0"/>
          </a:p>
        </p:txBody>
      </p:sp>
      <p:cxnSp>
        <p:nvCxnSpPr>
          <p:cNvPr id="11" name="肘形接點 10"/>
          <p:cNvCxnSpPr/>
          <p:nvPr/>
        </p:nvCxnSpPr>
        <p:spPr>
          <a:xfrm>
            <a:off x="7021689" y="4675837"/>
            <a:ext cx="1376009" cy="7400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197600" y="5553506"/>
            <a:ext cx="2005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建立 </a:t>
            </a:r>
            <a:r>
              <a:rPr lang="en-US" altLang="zh-TW" dirty="0" smtClean="0"/>
              <a:t>Hybrid Search</a:t>
            </a:r>
          </a:p>
          <a:p>
            <a:r>
              <a:rPr lang="zh-TW" altLang="en-US" dirty="0" smtClean="0"/>
              <a:t>自動產生 </a:t>
            </a:r>
            <a:r>
              <a:rPr lang="en-US" altLang="zh-TW" dirty="0" smtClean="0"/>
              <a:t>API </a:t>
            </a:r>
            <a:endParaRPr lang="zh-TW" altLang="en-US" dirty="0"/>
          </a:p>
        </p:txBody>
      </p:sp>
      <p:cxnSp>
        <p:nvCxnSpPr>
          <p:cNvPr id="13" name="肘形接點 12"/>
          <p:cNvCxnSpPr/>
          <p:nvPr/>
        </p:nvCxnSpPr>
        <p:spPr>
          <a:xfrm>
            <a:off x="5192889" y="5045840"/>
            <a:ext cx="3204811" cy="1433982"/>
          </a:xfrm>
          <a:prstGeom prst="bentConnector3">
            <a:avLst>
              <a:gd name="adj1" fmla="val -10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2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1;p19">
            <a:extLst>
              <a:ext uri="{FF2B5EF4-FFF2-40B4-BE49-F238E27FC236}">
                <a16:creationId xmlns:a16="http://schemas.microsoft.com/office/drawing/2014/main" id="{410FABD8-13C0-BE80-8B34-4B8B4EF3A9B4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Text-to-SQL 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en-US" altLang="zh-TW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zh-TW" alt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超級工程師</a:t>
            </a:r>
            <a:endParaRPr dirty="0"/>
          </a:p>
        </p:txBody>
      </p:sp>
      <p:sp>
        <p:nvSpPr>
          <p:cNvPr id="5" name="Google Shape;212;p19">
            <a:extLst>
              <a:ext uri="{FF2B5EF4-FFF2-40B4-BE49-F238E27FC236}">
                <a16:creationId xmlns:a16="http://schemas.microsoft.com/office/drawing/2014/main" id="{33F8F642-F52F-1835-C09B-F7CD2A2C8E74}"/>
              </a:ext>
            </a:extLst>
          </p:cNvPr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1;p16">
            <a:extLst>
              <a:ext uri="{FF2B5EF4-FFF2-40B4-BE49-F238E27FC236}">
                <a16:creationId xmlns:a16="http://schemas.microsoft.com/office/drawing/2014/main" id="{233A44E0-9AA3-2662-45D9-49C2150E4720}"/>
              </a:ext>
            </a:extLst>
          </p:cNvPr>
          <p:cNvSpPr txBox="1"/>
          <p:nvPr/>
        </p:nvSpPr>
        <p:spPr>
          <a:xfrm>
            <a:off x="571499" y="1313512"/>
            <a:ext cx="6438901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實現工具</a:t>
            </a:r>
            <a:r>
              <a:rPr lang="zh-TW" altLang="en-US" sz="200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包</a:t>
            </a:r>
            <a:r>
              <a:rPr lang="en-US" altLang="zh-TW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: </a:t>
            </a:r>
            <a:r>
              <a:rPr lang="en-US" altLang="zh-TW" sz="2000" b="1" i="0" u="none" strike="noStrike" cap="none" dirty="0" err="1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LLM</a:t>
            </a:r>
            <a:r>
              <a:rPr lang="en-US" altLang="zh-TW" sz="200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altLang="zh-TW" sz="200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+ Python+ </a:t>
            </a:r>
            <a:r>
              <a:rPr lang="en-US" altLang="zh-TW" sz="2000" b="1" i="0" u="none" strike="noStrike" cap="none" dirty="0" err="1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Nodejs</a:t>
            </a:r>
            <a:r>
              <a:rPr lang="en-US" altLang="zh-TW" sz="200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+ </a:t>
            </a:r>
            <a:r>
              <a:rPr lang="zh-TW" altLang="en-US" sz="200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結構化資料庫</a:t>
            </a:r>
            <a:endParaRPr lang="zh-TW" altLang="en-US" sz="2000" b="1" i="0" u="none" strike="noStrike" cap="none" dirty="0">
              <a:solidFill>
                <a:srgbClr val="333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7" y="1931467"/>
            <a:ext cx="8360036" cy="46099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342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MCP </a:t>
            </a:r>
            <a:r>
              <a:rPr lang="zh-TW" altLang="en-US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範例</a:t>
            </a:r>
            <a:r>
              <a:rPr lang="en-US" sz="315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zh-TW" altLang="en-US" sz="315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使用 </a:t>
            </a:r>
            <a:r>
              <a:rPr lang="en-US" altLang="zh-TW" sz="3150" b="1" i="0" u="none" strike="noStrike" cap="none" dirty="0" err="1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Echarts</a:t>
            </a:r>
            <a:r>
              <a:rPr lang="en-US" altLang="zh-TW" sz="3150" b="1" i="0" u="none" strike="noStrike" cap="none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zh-TW" altLang="en-US" sz="3150" b="1" dirty="0" smtClean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繪圖</a:t>
            </a:r>
            <a:endParaRPr dirty="0"/>
          </a:p>
        </p:txBody>
      </p:sp>
      <p:sp>
        <p:nvSpPr>
          <p:cNvPr id="387" name="Google Shape;387;p29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4" y="1343377"/>
            <a:ext cx="8766479" cy="40661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466" y="3192206"/>
            <a:ext cx="4235273" cy="33666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5829461"/>
            <a:ext cx="2145242" cy="72938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138662F-D117-9616-275C-43F62FAB43E9}"/>
              </a:ext>
            </a:extLst>
          </p:cNvPr>
          <p:cNvSpPr txBox="1"/>
          <p:nvPr/>
        </p:nvSpPr>
        <p:spPr>
          <a:xfrm>
            <a:off x="9639295" y="99705"/>
            <a:ext cx="240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MCP</a:t>
            </a:r>
            <a:r>
              <a:rPr lang="en-US" altLang="zh-TW" dirty="0" smtClean="0"/>
              <a:t> Servers: </a:t>
            </a:r>
            <a:r>
              <a:rPr lang="zh-TW" altLang="en-US" dirty="0" smtClean="0">
                <a:hlinkClick r:id="rId6"/>
              </a:rPr>
              <a:t>收錄連結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279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 txBox="1"/>
          <p:nvPr/>
        </p:nvSpPr>
        <p:spPr>
          <a:xfrm>
            <a:off x="1047750" y="1423987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工作流自動化 (Workflow Automation)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 視覺化節點設計。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1047750" y="2176462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像樂高一樣串接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 輕鬆連接 OpenAI, Google Sheets, Slack。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5852518" y="1423987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Low-Code 實踐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B5563"/>
                </a:solidFill>
                <a:latin typeface="Noto Sans TC"/>
                <a:ea typeface="Noto Sans TC"/>
                <a:cs typeface="Noto Sans TC"/>
                <a:sym typeface="Noto Sans TC"/>
              </a:rPr>
              <a:t> 無需大量寫 Code 也能打造強大的 RAG 與 Agent。</a:t>
            </a:r>
            <a:endParaRPr/>
          </a:p>
        </p:txBody>
      </p:sp>
      <p:pic>
        <p:nvPicPr>
          <p:cNvPr id="413" name="Google Shape;41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46208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214562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6768" y="1462087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6;p29">
            <a:extLst>
              <a:ext uri="{FF2B5EF4-FFF2-40B4-BE49-F238E27FC236}">
                <a16:creationId xmlns:a16="http://schemas.microsoft.com/office/drawing/2014/main" id="{4AD2F836-4C75-03D6-A06A-17E591FA8D12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實作落地</a:t>
            </a:r>
            <a:r>
              <a:rPr lang="en-US" sz="3150" b="1" i="0" u="none" strike="noStrike" cap="none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：</a:t>
            </a:r>
            <a:r>
              <a:rPr lang="zh-TW" altLang="en-US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用 </a:t>
            </a:r>
            <a:r>
              <a:rPr lang="en-US" altLang="zh-TW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N8N </a:t>
            </a:r>
            <a:r>
              <a:rPr lang="zh-TW" altLang="en-US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組裝自己的 </a:t>
            </a:r>
            <a:r>
              <a:rPr lang="en-US" altLang="zh-TW" sz="3150" b="1" dirty="0">
                <a:solidFill>
                  <a:srgbClr val="333333"/>
                </a:solidFill>
                <a:latin typeface="Noto Sans TC"/>
                <a:ea typeface="Noto Sans TC"/>
                <a:cs typeface="Noto Sans TC"/>
                <a:sym typeface="Noto Sans TC"/>
              </a:rPr>
              <a:t>AI Agent</a:t>
            </a:r>
            <a:endParaRPr dirty="0"/>
          </a:p>
        </p:txBody>
      </p:sp>
      <p:sp>
        <p:nvSpPr>
          <p:cNvPr id="3" name="Google Shape;387;p29">
            <a:extLst>
              <a:ext uri="{FF2B5EF4-FFF2-40B4-BE49-F238E27FC236}">
                <a16:creationId xmlns:a16="http://schemas.microsoft.com/office/drawing/2014/main" id="{AE39590E-1535-F7FA-C33B-E4AC18384120}"/>
              </a:ext>
            </a:extLst>
          </p:cNvPr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86062"/>
            <a:ext cx="6324600" cy="40195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618" y="3575932"/>
            <a:ext cx="49911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6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97</Words>
  <Application>Microsoft Office PowerPoint</Application>
  <PresentationFormat>寬螢幕</PresentationFormat>
  <Paragraphs>15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Noto Sans TC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Innolux 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san.fang</dc:creator>
  <cp:lastModifiedBy>san.fang</cp:lastModifiedBy>
  <cp:revision>7</cp:revision>
  <dcterms:created xsi:type="dcterms:W3CDTF">2025-11-24T00:49:08Z</dcterms:created>
  <dcterms:modified xsi:type="dcterms:W3CDTF">2025-11-24T08:56:57Z</dcterms:modified>
</cp:coreProperties>
</file>